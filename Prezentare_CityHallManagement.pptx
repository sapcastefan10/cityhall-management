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75" r:id="rId9"/>
    <p:sldId id="262" r:id="rId10"/>
    <p:sldId id="263" r:id="rId11"/>
    <p:sldId id="264" r:id="rId12"/>
    <p:sldId id="265" r:id="rId13"/>
    <p:sldId id="273" r:id="rId14"/>
    <p:sldId id="266" r:id="rId15"/>
    <p:sldId id="274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-211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1371600" y="2011680"/>
            <a:ext cx="2743200" cy="2743200"/>
          </a:xfrm>
          <a:prstGeom prst="hexagon">
            <a:avLst/>
          </a:prstGeom>
          <a:solidFill>
            <a:srgbClr val="122B52"/>
          </a:solidFill>
          <a:ln w="381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0"/>
            </a:pPr>
            <a:r>
              <a:t>🏛️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0"/>
            <a:ext cx="6858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BFFF"/>
                </a:solidFill>
                <a:latin typeface="Arial"/>
              </a:defRPr>
            </a:pPr>
            <a:r>
              <a:rPr dirty="0"/>
              <a:t>City Hall Management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  <a:latin typeface="Arial"/>
              </a:defRPr>
            </a:pPr>
            <a:r>
              <a:rPr dirty="0"/>
              <a:t>Portal Web </a:t>
            </a:r>
            <a:r>
              <a:rPr dirty="0" err="1"/>
              <a:t>Guvernamental</a:t>
            </a:r>
            <a:r>
              <a:rPr dirty="0"/>
              <a:t>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Gestionarea</a:t>
            </a:r>
            <a:r>
              <a:rPr dirty="0"/>
              <a:t> </a:t>
            </a:r>
            <a:r>
              <a:rPr dirty="0" err="1"/>
              <a:t>Cererilor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Locker Digital</a:t>
            </a:r>
          </a:p>
          <a:p>
            <a:r>
              <a:rPr dirty="0"/>
              <a:t/>
            </a:r>
            <a:br>
              <a:rPr dirty="0"/>
            </a:br>
            <a:r>
              <a:rPr dirty="0" err="1">
                <a:solidFill>
                  <a:schemeClr val="bg1"/>
                </a:solidFill>
              </a:rPr>
              <a:t>Realizat</a:t>
            </a:r>
            <a:r>
              <a:rPr dirty="0">
                <a:solidFill>
                  <a:schemeClr val="bg1"/>
                </a:solidFill>
              </a:rPr>
              <a:t> de: </a:t>
            </a:r>
            <a:r>
              <a:rPr lang="en-GB" dirty="0" err="1" smtClean="0">
                <a:solidFill>
                  <a:schemeClr val="bg1"/>
                </a:solidFill>
              </a:rPr>
              <a:t>Sapca</a:t>
            </a:r>
            <a:r>
              <a:rPr lang="en-GB" dirty="0" smtClean="0">
                <a:solidFill>
                  <a:schemeClr val="bg1"/>
                </a:solidFill>
              </a:rPr>
              <a:t> Roman Stefan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Cuprins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  Introducere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2  Structura proiectului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2.1  Django MVT Pattern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2.2  Structura bazei de date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2.3  Structura controlerului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2.4  Structura template-ului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2.5  Static, media si storage securizat</a:t>
            </a:r>
          </a:p>
          <a:p>
            <a:pPr lvl="1">
              <a:spcBef>
                <a:spcPts val="400"/>
              </a:spcBef>
              <a:defRPr sz="1900" b="0">
                <a:solidFill>
                  <a:srgbClr val="B4B6C0"/>
                </a:solidFill>
                <a:latin typeface="Arial"/>
              </a:defRPr>
            </a:pPr>
            <a:r>
              <a:t>2.6  Design patterns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  Concluzii si propuneri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572000" cy="411480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🎯 Obiective de Prezentare:</a:t>
            </a:r>
            <a:br/>
            <a:r>
              <a:t/>
            </a:r>
            <a:br/>
            <a:r>
              <a:t>• Intelegerea arhitecturii tehnologice</a:t>
            </a:r>
            <a:br/>
            <a:r>
              <a:t>• Prezentarea flow-ului de date securizat</a:t>
            </a:r>
            <a:br/>
            <a:r>
              <a:t>• Evidentierea componentelor cheie de cod (views, models, storage)</a:t>
            </a:r>
            <a:br/>
            <a:r>
              <a:t>• Solutii de digitalizare administrativa implementate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1. Introducere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Modernizarea si digitalizarea serviciilor publice locale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Aplicatia reprezinta o platforma administrativa complet functionala ce ofera cetatenilor acces direct la depunerea cererilor de acte si gestionarea unui locker digital de documente personale.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26080"/>
            <a:ext cx="5120640" cy="310896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0BFFF"/>
                </a:solidFill>
                <a:latin typeface="Arial"/>
              </a:defRPr>
            </a:pPr>
            <a:r>
              <a:t>1. Frontend - Interfata Dinamica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• HTML5 &amp; CSS3: Structurare si stilizare vizuala moderna, curata.</a:t>
            </a:r>
            <a:br/>
            <a:r>
              <a:t>• Bootstrap: Framework UI responsabil de design complet adaptabil (Mobile-Friendly).</a:t>
            </a:r>
            <a:br/>
            <a:r>
              <a:t>• JavaScript (Vanilla): Gestionare pop-up, modaluri de modificare status si inchidere mesaje de tip alerta dinamic.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926080"/>
            <a:ext cx="5120640" cy="310896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0BFFF"/>
                </a:solidFill>
                <a:latin typeface="Arial"/>
              </a:defRPr>
            </a:pPr>
            <a:r>
              <a:t>2. Backend - Logica si Datele</a:t>
            </a:r>
          </a:p>
          <a:p>
            <a:pPr>
              <a:defRPr sz="1500">
                <a:solidFill>
                  <a:srgbClr val="FFFFFF"/>
                </a:solidFill>
                <a:latin typeface="Arial"/>
              </a:defRPr>
            </a:pPr>
            <a:r>
              <a:t>• Python &amp; Django: Arhitectura stabila, sigura si scalabila.</a:t>
            </a:r>
            <a:br/>
            <a:r>
              <a:t>• SQL/SQLite3: Stocarea relationala eficienta a modelelor.</a:t>
            </a:r>
            <a:br/>
            <a:r>
              <a:t>• OOP (Object-Oriented Programming): Organizarea modulara a modelelor, formularelor si sistemului de stocare.</a:t>
            </a:r>
            <a:br/>
            <a:r>
              <a:t>• Criptare Simetrica: Securizarea fisierelor pe disc.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121920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45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2.1 Django MVT Pattern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Fluxul Request-Response in cadrul portalului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Django foloseste sablonul MVT (Model-View-Template) pentru a gestiona cererile utilizatorilor. Acest flow automatizeaza interactiunea dintre utilizator (Client), logica de business (Views), baza de date (Models) si interfata finala (Templates).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200400"/>
            <a:ext cx="1828800" cy="137160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FFF"/>
                </a:solidFill>
                <a:latin typeface="Arial"/>
              </a:defRPr>
            </a:pPr>
            <a:r>
              <a:t>Client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6C0"/>
                </a:solidFill>
                <a:latin typeface="Arial"/>
              </a:defRPr>
            </a:pPr>
            <a:r>
              <a:t>Browser cetatean / staff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3200400"/>
            <a:ext cx="1828800" cy="137160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FFF"/>
                </a:solidFill>
                <a:latin typeface="Arial"/>
              </a:defRPr>
            </a:pPr>
            <a:r>
              <a:t>URL Dispatcher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6C0"/>
                </a:solidFill>
                <a:latin typeface="Arial"/>
              </a:defRPr>
            </a:pPr>
            <a:r>
              <a:t>Mapeaza ruta corecta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200400"/>
            <a:ext cx="1828800" cy="137160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FFF"/>
                </a:solidFill>
                <a:latin typeface="Arial"/>
              </a:defRPr>
            </a:pPr>
            <a:r>
              <a:t>View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6C0"/>
                </a:solidFill>
                <a:latin typeface="Arial"/>
              </a:defRPr>
            </a:pPr>
            <a:r>
              <a:t>Views.py (Proceseaza cererea)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2560320"/>
            <a:ext cx="2286000" cy="10972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FFF"/>
                </a:solidFill>
                <a:latin typeface="Arial"/>
              </a:defRPr>
            </a:pPr>
            <a:r>
              <a:t>Model (Baza de Date)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6C0"/>
                </a:solidFill>
                <a:latin typeface="Arial"/>
              </a:defRPr>
            </a:pPr>
            <a:r>
              <a:t>Extrage date / Salveaza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4114800"/>
            <a:ext cx="2286000" cy="10972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BFFF"/>
                </a:solidFill>
                <a:latin typeface="Arial"/>
              </a:defRPr>
            </a:pPr>
            <a:r>
              <a:t>Template (HTML)</a:t>
            </a:r>
          </a:p>
          <a:p>
            <a:pPr algn="ctr">
              <a:spcBef>
                <a:spcPts val="400"/>
              </a:spcBef>
              <a:defRPr sz="1100">
                <a:solidFill>
                  <a:srgbClr val="B4B6C0"/>
                </a:solidFill>
                <a:latin typeface="Arial"/>
              </a:defRPr>
            </a:pPr>
            <a:r>
              <a:t>Randeaza codul cu datele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57600"/>
            <a:ext cx="5613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FFDA"/>
                </a:solidFill>
              </a:defRPr>
            </a:pPr>
            <a:r>
              <a:rPr dirty="0"/>
              <a:t> </a:t>
            </a:r>
            <a:r>
              <a:rPr dirty="0" smtClean="0"/>
              <a:t>➡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303520" y="3657600"/>
            <a:ext cx="5613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FFDA"/>
                </a:solidFill>
              </a:defRPr>
            </a:pPr>
            <a:r>
              <a:rPr dirty="0"/>
              <a:t> </a:t>
            </a:r>
            <a:r>
              <a:rPr dirty="0" smtClean="0"/>
              <a:t>➡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46720" y="2834640"/>
            <a:ext cx="524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FFDA"/>
                </a:solidFill>
              </a:defRPr>
            </a:pPr>
            <a:r>
              <a:rPr dirty="0"/>
              <a:t> </a:t>
            </a:r>
            <a:r>
              <a:rPr dirty="0" smtClean="0"/>
              <a:t>↗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046720" y="4389120"/>
            <a:ext cx="524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FFDA"/>
                </a:solidFill>
              </a:defRPr>
            </a:pPr>
            <a:r>
              <a:rPr dirty="0"/>
              <a:t> </a:t>
            </a:r>
            <a:r>
              <a:rPr dirty="0" smtClean="0"/>
              <a:t>↘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2.2 Structura bazei de date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Modelele Django core/models.py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Stocare date: SQLite3</a:t>
            </a:r>
            <a:br/>
            <a:endParaRPr/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Aplicatia foloseste modelul predefinit Django `User` pentru administrare cetateni/staff, legat de trei tabele principale:</a:t>
            </a:r>
            <a:br/>
            <a:r>
              <a:t/>
            </a:r>
            <a:br/>
            <a:r>
              <a:t>1. DocumentType: Tipul actelor emise.</a:t>
            </a:r>
            <a:br/>
            <a:r>
              <a:t>2. CitizenDocument: Lockerul personal de fisiere incarcate de cetatean.</a:t>
            </a:r>
            <a:br/>
            <a:r>
              <a:t>3. DocumentRequest: Cererile de documente si evolutia statusului lor.</a:t>
            </a:r>
            <a:br/>
            <a:r>
              <a:t/>
            </a:r>
            <a:br/>
            <a:r>
              <a:t>Relatiile sunt stabilite prin ForeignKey (One-To-Many) cu comportament cascade sau protect.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core/models.py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rPr dirty="0"/>
              <a:t>class </a:t>
            </a:r>
            <a:r>
              <a:rPr dirty="0" err="1"/>
              <a:t>CitizenDocument</a:t>
            </a:r>
            <a:r>
              <a:rPr dirty="0"/>
              <a:t>(</a:t>
            </a:r>
            <a:r>
              <a:rPr dirty="0" err="1"/>
              <a:t>models.Model</a:t>
            </a:r>
            <a:r>
              <a:rPr dirty="0"/>
              <a:t>):</a:t>
            </a:r>
            <a:br>
              <a:rPr dirty="0"/>
            </a:br>
            <a:r>
              <a:rPr dirty="0"/>
              <a:t>    # </a:t>
            </a:r>
            <a:r>
              <a:rPr dirty="0" err="1"/>
              <a:t>documentele</a:t>
            </a:r>
            <a:r>
              <a:rPr dirty="0"/>
              <a:t> </a:t>
            </a:r>
            <a:r>
              <a:rPr dirty="0" err="1"/>
              <a:t>urcate</a:t>
            </a:r>
            <a:r>
              <a:rPr dirty="0"/>
              <a:t> de </a:t>
            </a:r>
            <a:r>
              <a:rPr dirty="0" err="1"/>
              <a:t>cetateni</a:t>
            </a:r>
            <a:r>
              <a:rPr dirty="0"/>
              <a:t> in locker (</a:t>
            </a:r>
            <a:r>
              <a:rPr dirty="0" err="1"/>
              <a:t>buletin</a:t>
            </a:r>
            <a:r>
              <a:rPr dirty="0"/>
              <a:t>, </a:t>
            </a:r>
            <a:r>
              <a:rPr dirty="0" err="1"/>
              <a:t>adeverinte</a:t>
            </a:r>
            <a:r>
              <a:rPr dirty="0"/>
              <a:t>, </a:t>
            </a:r>
            <a:r>
              <a:rPr dirty="0" err="1"/>
              <a:t>etc</a:t>
            </a:r>
            <a:r>
              <a:rPr dirty="0"/>
              <a:t>)</a:t>
            </a:r>
            <a:br>
              <a:rPr dirty="0"/>
            </a:br>
            <a:r>
              <a:rPr dirty="0"/>
              <a:t>    citizen = </a:t>
            </a:r>
            <a:r>
              <a:rPr dirty="0" err="1"/>
              <a:t>models.ForeignKey</a:t>
            </a:r>
            <a:r>
              <a:rPr dirty="0"/>
              <a:t>(User, </a:t>
            </a:r>
            <a:r>
              <a:rPr dirty="0" err="1"/>
              <a:t>on_delete</a:t>
            </a:r>
            <a:r>
              <a:rPr dirty="0"/>
              <a:t>=</a:t>
            </a:r>
            <a:r>
              <a:rPr dirty="0" err="1"/>
              <a:t>models.CASCADE</a:t>
            </a:r>
            <a:r>
              <a:rPr dirty="0"/>
              <a:t>, </a:t>
            </a:r>
            <a:r>
              <a:rPr dirty="0" err="1"/>
              <a:t>related_name</a:t>
            </a:r>
            <a:r>
              <a:rPr dirty="0"/>
              <a:t>='documents')</a:t>
            </a:r>
            <a:br>
              <a:rPr dirty="0"/>
            </a:br>
            <a:r>
              <a:rPr dirty="0"/>
              <a:t>    name = </a:t>
            </a:r>
            <a:r>
              <a:rPr dirty="0" err="1"/>
              <a:t>models.CharField</a:t>
            </a:r>
            <a:r>
              <a:rPr dirty="0"/>
              <a:t>(</a:t>
            </a:r>
            <a:r>
              <a:rPr dirty="0" err="1"/>
              <a:t>max_length</a:t>
            </a:r>
            <a:r>
              <a:rPr dirty="0"/>
              <a:t>=150)</a:t>
            </a:r>
            <a:br>
              <a:rPr dirty="0"/>
            </a:br>
            <a:r>
              <a:rPr dirty="0"/>
              <a:t>    file = </a:t>
            </a:r>
            <a:r>
              <a:rPr dirty="0" err="1"/>
              <a:t>models.FileField</a:t>
            </a:r>
            <a:r>
              <a:rPr dirty="0"/>
              <a:t>(</a:t>
            </a:r>
            <a:r>
              <a:rPr dirty="0" err="1"/>
              <a:t>upload_to</a:t>
            </a:r>
            <a:r>
              <a:rPr dirty="0"/>
              <a:t>='</a:t>
            </a:r>
            <a:r>
              <a:rPr dirty="0" err="1"/>
              <a:t>citizen_locker</a:t>
            </a:r>
            <a:r>
              <a:rPr dirty="0"/>
              <a:t>/', storage=</a:t>
            </a:r>
            <a:r>
              <a:rPr dirty="0" err="1"/>
              <a:t>EncryptedFileSystemStorage</a:t>
            </a:r>
            <a:r>
              <a:rPr dirty="0"/>
              <a:t>())</a:t>
            </a:r>
            <a:br>
              <a:rPr dirty="0"/>
            </a:br>
            <a:r>
              <a:rPr dirty="0"/>
              <a:t>    </a:t>
            </a:r>
            <a:r>
              <a:rPr dirty="0" err="1"/>
              <a:t>uploaded_at</a:t>
            </a:r>
            <a:r>
              <a:rPr dirty="0"/>
              <a:t> = </a:t>
            </a:r>
            <a:r>
              <a:rPr dirty="0" err="1"/>
              <a:t>models.DateTimeField</a:t>
            </a:r>
            <a:r>
              <a:rPr dirty="0"/>
              <a:t>(</a:t>
            </a:r>
            <a:r>
              <a:rPr dirty="0" err="1"/>
              <a:t>auto_now_add</a:t>
            </a:r>
            <a:r>
              <a:rPr dirty="0"/>
              <a:t>=True)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str</a:t>
            </a:r>
            <a:r>
              <a:rPr dirty="0"/>
              <a:t>__(self):</a:t>
            </a:r>
            <a:br>
              <a:rPr dirty="0"/>
            </a:br>
            <a:r>
              <a:rPr dirty="0"/>
              <a:t>        return f"{self.name} ({</a:t>
            </a:r>
            <a:r>
              <a:rPr dirty="0" err="1"/>
              <a:t>self.citizen.username</a:t>
            </a:r>
            <a:r>
              <a:rPr dirty="0"/>
              <a:t>})"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class </a:t>
            </a:r>
            <a:r>
              <a:rPr dirty="0" err="1"/>
              <a:t>DocumentRequest</a:t>
            </a:r>
            <a:r>
              <a:rPr dirty="0"/>
              <a:t>(</a:t>
            </a:r>
            <a:r>
              <a:rPr dirty="0" err="1"/>
              <a:t>models.Model</a:t>
            </a:r>
            <a:r>
              <a:rPr dirty="0"/>
              <a:t>):</a:t>
            </a:r>
            <a:br>
              <a:rPr dirty="0"/>
            </a:br>
            <a:r>
              <a:rPr dirty="0"/>
              <a:t>    STATUS_CHOICES = [</a:t>
            </a:r>
            <a:br>
              <a:rPr dirty="0"/>
            </a:br>
            <a:r>
              <a:rPr dirty="0"/>
              <a:t>        ('PENDING', 'Pending'),</a:t>
            </a:r>
            <a:br>
              <a:rPr dirty="0"/>
            </a:br>
            <a:r>
              <a:rPr dirty="0"/>
              <a:t>        ('PROCESSING', 'Processing'),</a:t>
            </a:r>
            <a:br>
              <a:rPr dirty="0"/>
            </a:br>
            <a:r>
              <a:rPr dirty="0"/>
              <a:t>        ('APPROVED', 'Approved'),</a:t>
            </a:r>
            <a:br>
              <a:rPr dirty="0"/>
            </a:br>
            <a:r>
              <a:rPr dirty="0"/>
              <a:t>        ('REJECTED', 'Rejected'),</a:t>
            </a:r>
            <a:br>
              <a:rPr dirty="0"/>
            </a:br>
            <a:r>
              <a:rPr dirty="0"/>
              <a:t>    ]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    citizen = </a:t>
            </a:r>
            <a:r>
              <a:rPr dirty="0" err="1"/>
              <a:t>models.ForeignKey</a:t>
            </a:r>
            <a:r>
              <a:rPr dirty="0"/>
              <a:t>(User, </a:t>
            </a:r>
            <a:r>
              <a:rPr dirty="0" err="1"/>
              <a:t>on_delete</a:t>
            </a:r>
            <a:r>
              <a:rPr dirty="0"/>
              <a:t>=</a:t>
            </a:r>
            <a:r>
              <a:rPr dirty="0" err="1"/>
              <a:t>models.CASCADE</a:t>
            </a:r>
            <a:r>
              <a:rPr dirty="0"/>
              <a:t>, </a:t>
            </a:r>
            <a:r>
              <a:rPr dirty="0" err="1"/>
              <a:t>related_name</a:t>
            </a:r>
            <a:r>
              <a:rPr dirty="0"/>
              <a:t>='requests')</a:t>
            </a:r>
            <a:br>
              <a:rPr dirty="0"/>
            </a:br>
            <a:r>
              <a:rPr dirty="0"/>
              <a:t>    </a:t>
            </a:r>
            <a:r>
              <a:rPr dirty="0" err="1"/>
              <a:t>document_type</a:t>
            </a:r>
            <a:r>
              <a:rPr dirty="0"/>
              <a:t> = </a:t>
            </a:r>
            <a:r>
              <a:rPr dirty="0" err="1"/>
              <a:t>models.ForeignKey</a:t>
            </a:r>
            <a:r>
              <a:rPr dirty="0"/>
              <a:t>(</a:t>
            </a:r>
            <a:r>
              <a:rPr dirty="0" err="1"/>
              <a:t>DocumentType</a:t>
            </a:r>
            <a:r>
              <a:rPr dirty="0"/>
              <a:t>, </a:t>
            </a:r>
            <a:r>
              <a:rPr dirty="0" err="1"/>
              <a:t>on_delete</a:t>
            </a:r>
            <a:r>
              <a:rPr dirty="0"/>
              <a:t>=</a:t>
            </a:r>
            <a:r>
              <a:rPr dirty="0" err="1"/>
              <a:t>models.PROTECT</a:t>
            </a:r>
            <a:r>
              <a:rPr dirty="0"/>
              <a:t>)</a:t>
            </a:r>
            <a:br>
              <a:rPr dirty="0"/>
            </a:br>
            <a:r>
              <a:rPr dirty="0"/>
              <a:t>    description = </a:t>
            </a:r>
            <a:r>
              <a:rPr dirty="0" err="1"/>
              <a:t>models.TextField</a:t>
            </a:r>
            <a:r>
              <a:rPr dirty="0"/>
              <a:t>()</a:t>
            </a:r>
            <a:br>
              <a:rPr dirty="0"/>
            </a:br>
            <a:r>
              <a:rPr dirty="0"/>
              <a:t>    </a:t>
            </a:r>
            <a:r>
              <a:rPr dirty="0" err="1"/>
              <a:t>attached_document</a:t>
            </a:r>
            <a:r>
              <a:rPr dirty="0"/>
              <a:t> = </a:t>
            </a:r>
            <a:r>
              <a:rPr dirty="0" err="1"/>
              <a:t>models.ForeignKey</a:t>
            </a:r>
            <a:r>
              <a:rPr dirty="0"/>
              <a:t>(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CitizenDocument</a:t>
            </a:r>
            <a:r>
              <a:rPr dirty="0"/>
              <a:t>, 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on_delete</a:t>
            </a:r>
            <a:r>
              <a:rPr dirty="0"/>
              <a:t>=</a:t>
            </a:r>
            <a:r>
              <a:rPr dirty="0" err="1"/>
              <a:t>models.SET_NULL</a:t>
            </a:r>
            <a:r>
              <a:rPr dirty="0"/>
              <a:t>, </a:t>
            </a:r>
            <a:br>
              <a:rPr dirty="0"/>
            </a:br>
            <a:r>
              <a:rPr dirty="0"/>
              <a:t>        null=True, </a:t>
            </a:r>
            <a:br>
              <a:rPr dirty="0"/>
            </a:br>
            <a:r>
              <a:rPr dirty="0"/>
              <a:t>        blank=True, 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related_name</a:t>
            </a:r>
            <a:r>
              <a:rPr dirty="0"/>
              <a:t>='requests'</a:t>
            </a:r>
            <a:br>
              <a:rPr dirty="0"/>
            </a:br>
            <a:r>
              <a:rPr dirty="0"/>
              <a:t>    )</a:t>
            </a:r>
            <a:br>
              <a:rPr dirty="0"/>
            </a:br>
            <a:r>
              <a:rPr dirty="0"/>
              <a:t>    status = </a:t>
            </a:r>
            <a:r>
              <a:rPr dirty="0" err="1"/>
              <a:t>models.CharField</a:t>
            </a:r>
            <a:r>
              <a:rPr dirty="0"/>
              <a:t>(</a:t>
            </a:r>
            <a:r>
              <a:rPr dirty="0" err="1"/>
              <a:t>max_length</a:t>
            </a:r>
            <a:r>
              <a:rPr dirty="0"/>
              <a:t>=20, choices=STATUS_CHOICES, default='PENDING')</a:t>
            </a:r>
            <a:br>
              <a:rPr dirty="0"/>
            </a:br>
            <a:r>
              <a:rPr dirty="0"/>
              <a:t>    </a:t>
            </a:r>
            <a:r>
              <a:rPr dirty="0" err="1"/>
              <a:t>staff_comments</a:t>
            </a:r>
            <a:r>
              <a:rPr dirty="0"/>
              <a:t> = </a:t>
            </a:r>
            <a:r>
              <a:rPr dirty="0" err="1"/>
              <a:t>models.TextField</a:t>
            </a:r>
            <a:r>
              <a:rPr dirty="0"/>
              <a:t>(blank=True, null=True) # </a:t>
            </a:r>
            <a:r>
              <a:rPr dirty="0" err="1"/>
              <a:t>explicatii</a:t>
            </a:r>
            <a:r>
              <a:rPr dirty="0"/>
              <a:t> de la </a:t>
            </a:r>
            <a:r>
              <a:rPr dirty="0" err="1"/>
              <a:t>primarie</a:t>
            </a:r>
            <a:r>
              <a:rPr dirty="0"/>
              <a:t> (de </a:t>
            </a:r>
            <a:r>
              <a:rPr dirty="0" err="1"/>
              <a:t>ce</a:t>
            </a:r>
            <a:r>
              <a:rPr dirty="0"/>
              <a:t> a </a:t>
            </a:r>
            <a:r>
              <a:rPr dirty="0" err="1"/>
              <a:t>fost</a:t>
            </a:r>
            <a:r>
              <a:rPr dirty="0"/>
              <a:t> </a:t>
            </a:r>
            <a:r>
              <a:rPr dirty="0" err="1"/>
              <a:t>respins</a:t>
            </a:r>
            <a:r>
              <a:rPr dirty="0"/>
              <a:t>, </a:t>
            </a:r>
            <a:r>
              <a:rPr dirty="0" err="1"/>
              <a:t>etc</a:t>
            </a:r>
            <a:r>
              <a:rPr dirty="0"/>
              <a:t>)</a:t>
            </a:r>
            <a:br>
              <a:rPr dirty="0"/>
            </a:br>
            <a:r>
              <a:rPr dirty="0"/>
              <a:t>    </a:t>
            </a:r>
            <a:r>
              <a:rPr dirty="0" err="1"/>
              <a:t>created_at</a:t>
            </a:r>
            <a:r>
              <a:rPr dirty="0"/>
              <a:t> = </a:t>
            </a:r>
            <a:r>
              <a:rPr dirty="0" err="1"/>
              <a:t>models.DateTimeField</a:t>
            </a:r>
            <a:r>
              <a:rPr dirty="0"/>
              <a:t>(</a:t>
            </a:r>
            <a:r>
              <a:rPr dirty="0" err="1"/>
              <a:t>auto_now_add</a:t>
            </a:r>
            <a:r>
              <a:rPr dirty="0"/>
              <a:t>=True)</a:t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 Structura controlerului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Logica de business in core/views.py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Controlerul este dezvoltat prin Function-Based Views (FBV).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Views-urile controleaza accesul paginilor, valideaza formularele de introducere si filtreaza datele din SQLite conform utilizatorului logat.</a:t>
            </a:r>
            <a:br/>
            <a:r>
              <a:t/>
            </a:r>
            <a:br/>
            <a:r>
              <a:t>• Izolarea datelor: Filtrarea queryset-urilor dupa `request.user` impiedica accesul neautorizat la alte profile.</a:t>
            </a:r>
            <a:br/>
            <a:r>
              <a:t>• Gestionare roluri: Separarea workflow-ului intre Dashboard-ul de Cetatean si Dashboard-ul de Staff (Functionari primarie).</a:t>
            </a:r>
            <a:br/>
            <a:r>
              <a:t>• Descarcari Securizate: Flux controlat de download fisiere de pe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645920"/>
            <a:ext cx="54864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076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core/views.py -&gt; login_view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2148840"/>
            <a:ext cx="52120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login_view(request):</a:t>
            </a:r>
            <a:br/>
            <a:r>
              <a:t>    if request.user.is_authenticated:</a:t>
            </a:r>
            <a:br/>
            <a:r>
              <a:t>        if request.user.is_staff:</a:t>
            </a:r>
            <a:br/>
            <a:r>
              <a:t>            return redirect('staff_dashboard')</a:t>
            </a:r>
            <a:br/>
            <a:r>
              <a:t>        return redirect('dashboard')</a:t>
            </a:r>
            <a:br/>
            <a:r>
              <a:t/>
            </a:r>
            <a:br/>
            <a:r>
              <a:t>    if request.method == 'POST':</a:t>
            </a:r>
            <a:br/>
            <a:r>
              <a:t>        username_input = request.POST.get('username')</a:t>
            </a:r>
            <a:br/>
            <a:r>
              <a:t>        password_input = request.POST.get('password')</a:t>
            </a:r>
            <a:br/>
            <a:r>
              <a:t>        user = authenticate(request, username=username_input, password=password_input)</a:t>
            </a:r>
            <a:br/>
            <a:r>
              <a:t>        if user is not None:</a:t>
            </a:r>
            <a:br/>
            <a:r>
              <a:t>            login(request, user)</a:t>
            </a:r>
            <a:br/>
            <a:r>
              <a:t>            if user.is_staff:</a:t>
            </a:r>
            <a:br/>
            <a:r>
              <a:t>                return redirect('staff_dashboard')</a:t>
            </a:r>
            <a:br/>
            <a:r>
              <a:t>            return redirect('dashboard')</a:t>
            </a:r>
            <a:br/>
            <a:r>
              <a:t>        else:</a:t>
            </a:r>
            <a:br/>
            <a:r>
              <a:t>            messages.error(request, "Invalid username or password.")</a:t>
            </a:r>
            <a:br/>
            <a:r>
              <a:t>    return render(request, 'core/login.html')</a:t>
            </a:r>
            <a:br/>
            <a:r>
              <a:t/>
            </a:r>
            <a:br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121920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13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 Structura controlerului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Harta functionala a aplicatiei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5120640" cy="210312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rPr dirty="0"/>
              <a:t>🔐 </a:t>
            </a:r>
            <a:r>
              <a:rPr dirty="0" err="1"/>
              <a:t>Autentificare</a:t>
            </a:r>
            <a:r>
              <a:rPr dirty="0"/>
              <a:t> &amp; </a:t>
            </a:r>
            <a:r>
              <a:rPr dirty="0" err="1"/>
              <a:t>Conturi</a:t>
            </a:r>
            <a:endParaRPr dirty="0"/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landing_page_view</a:t>
            </a:r>
            <a:r>
              <a:rPr dirty="0"/>
              <a:t> - </a:t>
            </a:r>
            <a:r>
              <a:rPr dirty="0" err="1"/>
              <a:t>Redirectionare</a:t>
            </a:r>
            <a:r>
              <a:rPr dirty="0"/>
              <a:t> </a:t>
            </a:r>
            <a:r>
              <a:rPr dirty="0" err="1"/>
              <a:t>inteligenta</a:t>
            </a:r>
            <a:r>
              <a:rPr dirty="0"/>
              <a:t/>
            </a:r>
            <a:br>
              <a:rPr dirty="0"/>
            </a:br>
            <a:r>
              <a:rPr dirty="0"/>
              <a:t>• </a:t>
            </a:r>
            <a:r>
              <a:rPr dirty="0" err="1"/>
              <a:t>login_view</a:t>
            </a:r>
            <a:r>
              <a:rPr dirty="0"/>
              <a:t> - </a:t>
            </a:r>
            <a:r>
              <a:rPr dirty="0" err="1"/>
              <a:t>Autentificare</a:t>
            </a:r>
            <a:r>
              <a:rPr dirty="0"/>
              <a:t> </a:t>
            </a:r>
            <a:r>
              <a:rPr dirty="0" err="1"/>
              <a:t>securizata</a:t>
            </a:r>
            <a:r>
              <a:rPr dirty="0"/>
              <a:t> </a:t>
            </a:r>
            <a:r>
              <a:rPr dirty="0" err="1"/>
              <a:t>utilizatori</a:t>
            </a:r>
            <a:r>
              <a:rPr dirty="0"/>
              <a:t/>
            </a:r>
            <a:br>
              <a:rPr dirty="0"/>
            </a:br>
            <a:r>
              <a:rPr dirty="0"/>
              <a:t>• </a:t>
            </a:r>
            <a:r>
              <a:rPr dirty="0" err="1"/>
              <a:t>logout_view</a:t>
            </a:r>
            <a:r>
              <a:rPr dirty="0"/>
              <a:t> - </a:t>
            </a:r>
            <a:r>
              <a:rPr dirty="0" err="1"/>
              <a:t>Deconectare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stergere</a:t>
            </a:r>
            <a:r>
              <a:rPr dirty="0"/>
              <a:t> </a:t>
            </a:r>
            <a:r>
              <a:rPr dirty="0" err="1"/>
              <a:t>sesiune</a:t>
            </a:r>
            <a:r>
              <a:rPr dirty="0"/>
              <a:t/>
            </a:r>
            <a:br>
              <a:rPr dirty="0"/>
            </a:br>
            <a:r>
              <a:rPr dirty="0"/>
              <a:t>• </a:t>
            </a:r>
            <a:r>
              <a:rPr dirty="0" err="1"/>
              <a:t>register_view</a:t>
            </a:r>
            <a:r>
              <a:rPr dirty="0"/>
              <a:t> - </a:t>
            </a:r>
            <a:r>
              <a:rPr dirty="0" err="1"/>
              <a:t>Inregistrare</a:t>
            </a:r>
            <a:r>
              <a:rPr dirty="0"/>
              <a:t> </a:t>
            </a:r>
            <a:r>
              <a:rPr dirty="0" err="1"/>
              <a:t>cetateni</a:t>
            </a:r>
            <a:r>
              <a:rPr dirty="0"/>
              <a:t> (</a:t>
            </a:r>
            <a:r>
              <a:rPr dirty="0" err="1"/>
              <a:t>UserCreationForm</a:t>
            </a:r>
            <a:r>
              <a:rPr dirty="0"/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645920"/>
            <a:ext cx="5120640" cy="210312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📁 Locker Digital Personal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documents_dashboard_view - Vizualizare locker propriu</a:t>
            </a:r>
            <a:br/>
            <a:r>
              <a:t>• upload_document_view - Incarcare dinamica documente</a:t>
            </a:r>
            <a:br/>
            <a:r>
              <a:t>• delete_document_view - Stergere fisier de pe server si BD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23360"/>
            <a:ext cx="5120640" cy="210312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📝 Gestiune Cereri Cetatean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dashboard_view - Lista personala cereri depuse</a:t>
            </a:r>
            <a:br/>
            <a:r>
              <a:t>• create_request_view - Creare cerere cu document atasat</a:t>
            </a:r>
            <a:br/>
            <a:r>
              <a:t>• view_certificate - Vizualizare certificat final (Approved)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4023360"/>
            <a:ext cx="5120640" cy="210312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🏢 Administrare Ghiseu (Staff)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staff_dashboard_view - Vizualizare completa cereri depuse</a:t>
            </a:r>
            <a:br/>
            <a:r>
              <a:t>• update_status_view - Schimbare status (Pending/Processing/...) + feedback</a:t>
            </a:r>
            <a:br/>
            <a:r>
              <a:t>• secure_download_view - Descarcare controlata fisiere din locker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 Structura controlerului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Securitate si permisiuni la descarcare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Securizarea Datelor Personale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Autorizare la descarcare: Fisierele cetatenilor nu sunt expuse public in folderul `/media/`.</a:t>
            </a:r>
            <a:br/>
            <a:r>
              <a:t/>
            </a:r>
            <a:br/>
            <a:r>
              <a:t>• `secure_download_view` verifica manual daca solicitantul este proprietarul (`doc.citizen == request.user`) sau este membru al personalului primariei (`request.user.is_staff`).</a:t>
            </a:r>
            <a:br/>
            <a:r>
              <a:t/>
            </a:r>
            <a:br/>
            <a:r>
              <a:t>• Daca verificarea esueaza, se returneaza eroarea `Http404` impiedicand leak-ul de date.</a:t>
            </a:r>
            <a:br/>
            <a:r>
              <a:t/>
            </a:r>
            <a:br/>
            <a:r>
              <a:t>• Fisierul este citit in mod binar securizat de pe disc si trimis direct browser-ului.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core/views.py -&gt; secure_download_view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secure_download_view(request, doc_id):</a:t>
            </a:r>
            <a:br/>
            <a:r>
              <a:t>    doc = get_object_or_404(CitizenDocument, id=doc_id)</a:t>
            </a:r>
            <a:br/>
            <a:r>
              <a:t>    if doc.citizen != request.user and not request.user.is_staff:</a:t>
            </a:r>
            <a:br/>
            <a:r>
              <a:t>        raise Http404("Document not found or unauthorized.")</a:t>
            </a:r>
            <a:br/>
            <a:r>
              <a:t>        </a:t>
            </a:r>
            <a:br/>
            <a:r>
              <a:t>    try:</a:t>
            </a:r>
            <a:br/>
            <a:r>
              <a:t>        file = doc.file.open('rb')</a:t>
            </a:r>
            <a:br/>
            <a:r>
              <a:t>        content = file.read()</a:t>
            </a:r>
            <a:br/>
            <a:r>
              <a:t>    except Exception:</a:t>
            </a:r>
            <a:br/>
            <a:r>
              <a:t>        raise Http404("File not found on server.")</a:t>
            </a:r>
            <a:br/>
            <a:r>
              <a:t>        </a:t>
            </a:r>
            <a:br/>
            <a:r>
              <a:t>    content_type, encoding = mimetypes.guess_type(doc.file.name)</a:t>
            </a:r>
            <a:br/>
            <a:r>
              <a:t>    response = HttpResponse(content, content_type=content_type or 'application/octet-stream')</a:t>
            </a:r>
            <a:br/>
            <a:r>
              <a:t>    return response</a:t>
            </a:r>
            <a:br/>
            <a:r>
              <a:t/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2.3.1 Exemplu flow Request GET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Exemplu: Afisare Dashboard Cetatean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Descrierea fluxului GET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1. Cetateanul acceseaza url-ul `/dashboard/`.</a:t>
            </a:r>
            <a:br/>
            <a:r>
              <a:t>2. Decoratorul `@login_required` verifica autentificarea.</a:t>
            </a:r>
            <a:br/>
            <a:r>
              <a:t>3. Se apeleaza `dashboard_view`.</a:t>
            </a:r>
            <a:br/>
            <a:r>
              <a:t>4. Se interogheaza baza de date SQLite filtreaza cererile cetateanului logat ordonate descrescator dupa data.</a:t>
            </a:r>
            <a:br/>
            <a:r>
              <a:t>5. Se returneaza template-ul `core/dashboard.html` populat dinamic cu queryset-ul extras.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core/views.py -&gt; dashboard_view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dashboard_view(request):</a:t>
            </a:r>
            <a:br/>
            <a:r>
              <a:t>    if request.user.is_staff:</a:t>
            </a:r>
            <a:br/>
            <a:r>
              <a:t>        return redirect('staff_dashboard')</a:t>
            </a:r>
            <a:br/>
            <a:r>
              <a:t>    user_requests = DocumentRequest.objects.filter(citizen=request.user).order_by('-created_at')</a:t>
            </a:r>
            <a:br/>
            <a:r>
              <a:t>    return render(request, 'core/dashboard.html', {'requests': user_requests})</a:t>
            </a:r>
            <a:br/>
            <a:r>
              <a:t/>
            </a:r>
            <a:br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2.3.2 Exemplu CRUD – Creare Cerere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Trimiterea unei cereri in core/forms.py si core/views.py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Logica Formularului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Constructorul `DocumentRequestForm` preia utilizatorul logat (`user`) ca parametru.</a:t>
            </a:r>
            <a:br/>
            <a:r>
              <a:t/>
            </a:r>
            <a:br/>
            <a:r>
              <a:t>• Se filtreaza campul `attached_document` din baza de date pentru a afisa exclusiv documentele stocate in lockerul acelui cetatean.</a:t>
            </a:r>
            <a:br/>
            <a:r>
              <a:t/>
            </a:r>
            <a:br/>
            <a:r>
              <a:t>• Aceasta abordare elimina posibilitatea ca un cetatean sa vada sau sa ataseze documentele altcuiva.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core/forms.py -&gt; DocumentRequestForm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class DocumentRequestForm(forms.ModelForm):</a:t>
            </a:r>
            <a:br/>
            <a:r>
              <a:t>    class Meta:</a:t>
            </a:r>
            <a:br/>
            <a:r>
              <a:t>        model = DocumentRequest</a:t>
            </a:r>
            <a:br/>
            <a:r>
              <a:t>        fields = ['document_type', 'description', 'attached_document']</a:t>
            </a:r>
            <a:br/>
            <a:r>
              <a:t>        widgets = {</a:t>
            </a:r>
            <a:br/>
            <a:r>
              <a:t>            'document_type': forms.Select(attrs={'class': 'form-select'}),</a:t>
            </a:r>
            <a:br/>
            <a:r>
              <a:t>            'description': forms.Textarea(attrs={</a:t>
            </a:r>
            <a:br/>
            <a:r>
              <a:t>                'class': 'form-control', </a:t>
            </a:r>
            <a:br/>
            <a:r>
              <a:t>                'rows': 4, </a:t>
            </a:r>
            <a:br/>
            <a:r>
              <a:t>                'placeholder': 'Provide specific details regarding your request...'</a:t>
            </a:r>
            <a:br/>
            <a:r>
              <a:t>            }),</a:t>
            </a:r>
            <a:br/>
            <a:r>
              <a:t>            'attached_document': forms.Select(attrs={'class': 'form-select'}),</a:t>
            </a:r>
            <a:br/>
            <a:r>
              <a:t>        }</a:t>
            </a:r>
            <a:br/>
            <a:r>
              <a:t/>
            </a:r>
            <a:br/>
            <a:r>
              <a:t>    def __init__(self, *args, **kwargs):</a:t>
            </a:r>
            <a:br/>
            <a:r>
              <a:t>        user = kwargs.pop('user', None)</a:t>
            </a:r>
            <a:br/>
            <a:r>
              <a:t>        super().__init__(*args, **kwargs)</a:t>
            </a:r>
            <a:br/>
            <a:r>
              <a:t>        if user:</a:t>
            </a:r>
            <a:br/>
            <a:r>
              <a:t>            self.fields['attached_document'].queryset = CitizenDocument.objects.filter(citizen=user)</a:t>
            </a:r>
            <a:br/>
            <a:r>
              <a:t>            self.fields['attached_document'].empty_label = "Select an uploaded document (Optional)"</a:t>
            </a:r>
            <a:br/>
            <a:r>
              <a:t>        else:</a:t>
            </a:r>
            <a:br/>
            <a:r>
              <a:t>            self.fields['attached_document'].queryset = CitizenDocument.objects.none()</a:t>
            </a:r>
            <a:br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"/>
            <a:ext cx="121920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611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2.3.3 Exemplu CRUD – Procesare Cereri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Actualizarea statusului de catre personal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Interfata de Modificare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Personalul foloseste `update_status_view` pentru modificarea starii cererilor.</a:t>
            </a:r>
            <a:br/>
            <a:r>
              <a:t/>
            </a:r>
            <a:br/>
            <a:r>
              <a:t>• Metoda `POST` permite salvarea comentariilor introduse in modalul de actualizare (ex: motive de respingere).</a:t>
            </a:r>
            <a:br/>
            <a:r>
              <a:t/>
            </a:r>
            <a:br/>
            <a:r>
              <a:t>• Statusul este actualizat la una din valorile standard: `PENDING`, `PROCESSING`, `APPROVED`, `REJECTED`.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core/views.py -&gt; update_status_view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def update_status_view(request, request_id, status):</a:t>
            </a:r>
            <a:br/>
            <a:r>
              <a:t>    doc_request = get_object_or_404(DocumentRequest, id=request_id)</a:t>
            </a:r>
            <a:br/>
            <a:r>
              <a:t>    if request.method == 'POST':</a:t>
            </a:r>
            <a:br/>
            <a:r>
              <a:t>        comments = request.POST.get('staff_comments', '')</a:t>
            </a:r>
            <a:br/>
            <a:r>
              <a:t>        doc_request.status = status.upper()</a:t>
            </a:r>
            <a:br/>
            <a:r>
              <a:t>        doc_request.staff_comments = comments</a:t>
            </a:r>
            <a:br/>
            <a:r>
              <a:t>        doc_request.save()</a:t>
            </a:r>
            <a:br/>
            <a:r>
              <a:t>        messages.success(request, f"Request #{request_id} updated to {status.upper()}.")</a:t>
            </a:r>
            <a:br/>
            <a:r>
              <a:t>    else:</a:t>
            </a:r>
            <a:br/>
            <a:r>
              <a:t>        doc_request.status = status.upper()</a:t>
            </a:r>
            <a:br/>
            <a:r>
              <a:t>        doc_request.save()</a:t>
            </a:r>
            <a:br/>
            <a:r>
              <a:t>        messages.success(request, f"Request #{request_id} marked as {status.upper()}.")</a:t>
            </a:r>
            <a:br/>
            <a:r>
              <a:t>    return redirect('staff_dashboard')</a:t>
            </a:r>
            <a:br/>
            <a:r>
              <a:t/>
            </a:r>
            <a:br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1348" y="190500"/>
            <a:ext cx="121920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9236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2.3.4 Criptarea Documentelor pe Disc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Sistemul custom de storage core/storage.py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Protejarea Fisierelor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Fisierele incarcate in locker-ul digital sunt extrem de sensibile (ex. buletine).</a:t>
            </a:r>
            <a:br/>
            <a:r>
              <a:t/>
            </a:r>
            <a:br/>
            <a:r>
              <a:t>• Clasa custom `EncryptedFileSystemStorage` rescrie metodele standard de save si open din Django.</a:t>
            </a:r>
            <a:br/>
            <a:r>
              <a:t/>
            </a:r>
            <a:br/>
            <a:r>
              <a:t>• Toate fisierele sunt criptate simetric cu AES la scrierea pe disc si decriptate on-the-fly in memorie exclusiv in momentul citirii autorizate.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645920"/>
            <a:ext cx="59436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23560" y="1737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Arial"/>
              </a:defRPr>
            </a:pPr>
            <a:r>
              <a:t>core/storage.py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2148840"/>
            <a:ext cx="5669280" cy="3886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D4D4D4"/>
                </a:solidFill>
                <a:latin typeface="Consolas"/>
              </a:defRPr>
            </a:pPr>
            <a:r>
              <a:t>from django.core.files.storage import FileSystemStorage</a:t>
            </a:r>
            <a:br/>
            <a:r>
              <a:t>from django.core.files.base import ContentFile</a:t>
            </a:r>
            <a:br/>
            <a:r>
              <a:t>from django.conf import settings</a:t>
            </a:r>
            <a:br/>
            <a:r>
              <a:t>from cryptography.fernet import Fernet</a:t>
            </a:r>
            <a:br/>
            <a:r>
              <a:t/>
            </a:r>
            <a:br/>
            <a:r>
              <a:t>class EncryptedFileSystemStorage(FileSystemStorage):</a:t>
            </a:r>
            <a:br/>
            <a:r>
              <a:t>    def __init__(self, *args, **kwargs):</a:t>
            </a:r>
            <a:br/>
            <a:r>
              <a:t>        super().__init__(*args, **kwargs)</a:t>
            </a:r>
            <a:br/>
            <a:r>
              <a:t>        self.fernet = Fernet(settings.ENCRYPTED_FILE_KEY)</a:t>
            </a:r>
            <a:br/>
            <a:r>
              <a:t/>
            </a:r>
            <a:br/>
            <a:r>
              <a:t>    def _save(self, name, content):</a:t>
            </a:r>
            <a:br/>
            <a:r>
              <a:t>        content_bytes = content.read()</a:t>
            </a:r>
            <a:br/>
            <a:r>
              <a:t>        encrypted_data = self.fernet.encrypt(content_bytes)</a:t>
            </a:r>
            <a:br/>
            <a:r>
              <a:t>        return super()._save(name, ContentFile(encrypted_data))</a:t>
            </a:r>
            <a:br/>
            <a:r>
              <a:t/>
            </a:r>
            <a:br/>
            <a:r>
              <a:t>    def _open(self, name, mode='rb'):</a:t>
            </a:r>
            <a:br/>
            <a:r>
              <a:t>        file = super()._open(name, 'rb')</a:t>
            </a:r>
            <a:br/>
            <a:r>
              <a:t>        encrypted_data = file.read()</a:t>
            </a:r>
            <a:br/>
            <a:r>
              <a:t>        </a:t>
            </a:r>
            <a:br/>
            <a:r>
              <a:t>        try:</a:t>
            </a:r>
            <a:br/>
            <a:r>
              <a:t>            decrypted_data = self.fernet.decrypt(encrypted_data)</a:t>
            </a:r>
            <a:br/>
            <a:r>
              <a:t>        except Exception:</a:t>
            </a:r>
            <a:br/>
            <a:r>
              <a:t>            file.seek(0)</a:t>
            </a:r>
            <a:br/>
            <a:r>
              <a:t>            decrypted_data = encrypted_data</a:t>
            </a:r>
            <a:br/>
            <a:r>
              <a:t>            </a:t>
            </a:r>
            <a:br/>
            <a:r>
              <a:t>        if 't' in mode or mode == 'r':</a:t>
            </a:r>
            <a:br/>
            <a:r>
              <a:t>             return ContentFile(decrypted_data.decode('utf-8'))</a:t>
            </a:r>
            <a:br/>
            <a:r>
              <a:t>        return ContentFile(decrypted_data)</a:t>
            </a:r>
            <a:br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2.4 Template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Organizarea paginilor 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Organizarea Paginilor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Toate paginile sunt gestionate din directorul `core/templates/core/`:</a:t>
            </a:r>
            <a:br/>
            <a:r>
              <a:t/>
            </a:r>
            <a:br/>
            <a:r>
              <a:t>• `base.html` – Contine scheletul global (navbar, footer, legaturi Bootstrap si FontAwesome, alerta de mesaje pop-up).</a:t>
            </a:r>
            <a:br/>
            <a:r>
              <a:t>• `landing.html` – Pagina principala de prezentare a proiectului.</a:t>
            </a:r>
            <a:br/>
            <a:r>
              <a:t>• `dashboard.html` – Panoul cetateanului cu stadiul cererilor depuse.</a:t>
            </a:r>
            <a:br/>
            <a:r>
              <a:t>• `create_request.html` – Formularul curat pentru depunerea unei cereri noi.</a:t>
            </a:r>
            <a:br/>
            <a:r>
              <a:t>• `documents_dashboard.html` – Lockerul digital si tabelul de documente.</a:t>
            </a:r>
            <a:br/>
            <a:r>
              <a:t>• `staff_dashboard.html` – Panoul de administrare pentru functionarii primariei.</a:t>
            </a:r>
            <a:br/>
            <a:r>
              <a:t>• `certificate.html` – Certificatul digital oficial generat in mod printabil.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141821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D4D4D4"/>
                </a:solidFill>
                <a:latin typeface="Consolas"/>
              </a:defRPr>
            </a:pPr>
            <a:r>
              <a:t>📁 core/templates/core/</a:t>
            </a:r>
            <a:br/>
            <a:r>
              <a:t> ├── 📄 base.html</a:t>
            </a:r>
            <a:br/>
            <a:r>
              <a:t> ├── 📄 landing.html</a:t>
            </a:r>
            <a:br/>
            <a:r>
              <a:t> ├── 📄 login.html</a:t>
            </a:r>
            <a:br/>
            <a:r>
              <a:t> ├── 📄 register.html</a:t>
            </a:r>
            <a:br/>
            <a:r>
              <a:t> ├── 📄 dashboard.html</a:t>
            </a:r>
            <a:br/>
            <a:r>
              <a:t> ├── 📄 create_request.html</a:t>
            </a:r>
            <a:br/>
            <a:r>
              <a:t> ├── 📄 documents_dashboard.html</a:t>
            </a:r>
            <a:br/>
            <a:r>
              <a:t> ├── 📄 staff_dashboard.html</a:t>
            </a:r>
            <a:br/>
            <a:r>
              <a:t> └── 📄 certificate.html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2.5 Static si Media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Organizarea fisierelor statice in aplicatie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Pentru stilizare personalizata si scripturi dinamice, s-a organizat directorul `core/static/core/`.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926080"/>
            <a:ext cx="3291840" cy="310896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🎨 Static CSS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• style.css adauga stilul unic.</a:t>
            </a:r>
            <a:br/>
            <a:r>
              <a:t>• Include culori specifice pentru stadiile cererii.</a:t>
            </a:r>
            <a:br/>
            <a:r>
              <a:t>• Stabileste aspectul pentru tabelul de cereri si efecte hover elegante pe butoane.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926080"/>
            <a:ext cx="3291840" cy="310896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⚡ Static JS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• main.js se ocupa de efectele dinamice.</a:t>
            </a:r>
            <a:br/>
            <a:r>
              <a:t>• Alertele de succes sau eroare se inchid automat dupa 5 secunde.</a:t>
            </a:r>
            <a:br/>
            <a:r>
              <a:t>• Cand personalul apasa modifica status, modalul preia automat ID-ul corect.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2926080"/>
            <a:ext cx="3291840" cy="310896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📂 Media Storage</a:t>
            </a:r>
          </a:p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• Directorul media/ stocheaza fisierele reale.</a:t>
            </a:r>
            <a:br/>
            <a:r>
              <a:t>• Folderul citizen_locker/ aduna imaginile si pdf-urile incarcate de cetateni (criptate pe disc).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2.6 Design Patterns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Bune practici de programare utilizate in cod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Pentru un cod curat, sigur si eficient, s-au implementat sabloane de proiectare standard: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743200"/>
            <a:ext cx="5120640" cy="329184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1. Post/Redirect/Get (PRG) Pattern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Previne incarcarea dubla a datelor.</a:t>
            </a:r>
            <a:br/>
            <a:r>
              <a:t/>
            </a:r>
            <a:br/>
            <a:r>
              <a:t>• Cand utilizatorul trimite o cerere (POST), backend-ul proceseaza datele si returneaza un cod HTTP redirect (302) catre dashboard.</a:t>
            </a:r>
            <a:br/>
            <a:r>
              <a:t/>
            </a:r>
            <a:br/>
            <a:r>
              <a:t>• Astfel, la refresh, browser-ul reincarca doar pagina prin GET, fara a re-trimite formularul bazei de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743200"/>
            <a:ext cx="5120640" cy="329184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00BFFF"/>
                </a:solidFill>
                <a:latin typeface="Arial"/>
              </a:defRPr>
            </a:pPr>
            <a:r>
              <a:t>2. Decorator Pattern</a:t>
            </a:r>
          </a:p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• Adauga comportament suplimentar unei functii fara a-i modifica structura.</a:t>
            </a:r>
            <a:br/>
            <a:r>
              <a:t/>
            </a:r>
            <a:br/>
            <a:r>
              <a:t>• Decoratorii Django `@login_required` si `@user_passes_test` intercepteaza cererea inainte sa ajunga in view pentru a verifica daca utilizatorul este logat sau face parte din staff.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65760"/>
            <a:ext cx="1081735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BFFF"/>
                </a:solidFill>
                <a:latin typeface="Arial"/>
              </a:defRPr>
            </a:pPr>
            <a:r>
              <a:t>3. Concluzii si propuneri</a:t>
            </a:r>
          </a:p>
          <a:p>
            <a:pPr>
              <a:spcBef>
                <a:spcPts val="400"/>
              </a:spcBef>
              <a:defRPr sz="1500">
                <a:solidFill>
                  <a:srgbClr val="64FFDA"/>
                </a:solidFill>
                <a:latin typeface="Arial"/>
              </a:defRPr>
            </a:pPr>
            <a:r>
              <a:t>Rezumatul proiectului si perspective de evolutie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5120640" cy="20116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🎯 Intentia Proiectului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S-a reusit crearea unui sistem simplu, coerent si complet digitalizat pentru ghiseul public, oferind cetateanului o alternativa digitala la deplasarea fizica.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828800"/>
            <a:ext cx="5120640" cy="20116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📊 Complexitatea Proiectului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Aplicatia contine pagini dinamice pentru cetateni si staff, securitate implementata la descarcari si stocare criptata reala pe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5120640" cy="20116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🔮 Viitoare Implementari - Semnatura Digitala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Integrarea unei API de semnatura digitala calificata pe certificatele aprobate pentru a le oferi valoare juridica deplina.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4114800"/>
            <a:ext cx="5120640" cy="2011680"/>
          </a:xfrm>
          <a:prstGeom prst="roundRect">
            <a:avLst/>
          </a:prstGeom>
          <a:solidFill>
            <a:srgbClr val="122B52"/>
          </a:solidFill>
          <a:ln w="1905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0BFFF"/>
                </a:solidFill>
                <a:latin typeface="Arial"/>
              </a:defRPr>
            </a:pPr>
            <a:r>
              <a:t>✉️ Viitoare Implementari - Notificari Automate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Implementarea unui sistem de notificari prin SMS/Email (SMTP) pentru a alerta cetateanul in timp real la schimbarea statusului cererii.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85313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5000" b="1">
                <a:solidFill>
                  <a:srgbClr val="00BFFF"/>
                </a:solidFill>
                <a:latin typeface="Arial"/>
              </a:defRPr>
            </a:pPr>
            <a:r>
              <a:t>Va multumesc pentru atentie!</a:t>
            </a:r>
          </a:p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Intrebari si raspunsuri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737</Words>
  <Application>Microsoft Office PowerPoint</Application>
  <PresentationFormat>Custom</PresentationFormat>
  <Paragraphs>124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Nicoleta Sapca</cp:lastModifiedBy>
  <cp:revision>5</cp:revision>
  <dcterms:created xsi:type="dcterms:W3CDTF">2013-01-27T09:14:16Z</dcterms:created>
  <dcterms:modified xsi:type="dcterms:W3CDTF">2026-09-20T22:39:21Z</dcterms:modified>
  <cp:category/>
</cp:coreProperties>
</file>